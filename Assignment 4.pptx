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e470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e470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c6f9e470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c6f9e470d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c6f9e470d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c6f9e470d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c6f9e470d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c6f9e470d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c6f9e470d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c6f9e470d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8d897503b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8d897503b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8d897503b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8d897503b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8d897503b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8d897503b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8d897503b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8d897503b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8d897503b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8d897503b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c6f9e470d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c6f9e470d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8d897503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b8d897503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8d897503b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b8d897503b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8d897503b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b8d897503b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8d897503b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b8d897503b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b8d897503b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b8d897503b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b8d897503b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b8d897503b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b8d897503b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b8d897503b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b8d897503b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b8d897503b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br>
              <a:rPr lang="en" dirty="0"/>
            </a:br>
            <a:r>
              <a:rPr lang="en-US" sz="3600" dirty="0"/>
              <a:t>Statistical Learning and Data Analysis</a:t>
            </a:r>
            <a:br>
              <a:rPr lang="en" dirty="0"/>
            </a:br>
            <a:r>
              <a:rPr lang="en" sz="2400" dirty="0"/>
              <a:t>Assignment 04 (Classification)</a:t>
            </a:r>
            <a:endParaRPr sz="2400" dirty="0"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598100" y="357827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Tarek Saade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Rabeya Siddika Sajia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grpSp>
        <p:nvGrpSpPr>
          <p:cNvPr id="92" name="Google Shape;92;p14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93" name="Google Shape;93;p14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14"/>
          <p:cNvSpPr txBox="1">
            <a:spLocks noGrp="1"/>
          </p:cNvSpPr>
          <p:nvPr>
            <p:ph type="body" idx="4294967295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Objective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6" name="Google Shape;96;p14"/>
          <p:cNvSpPr txBox="1">
            <a:spLocks noGrp="1"/>
          </p:cNvSpPr>
          <p:nvPr>
            <p:ph type="body" idx="4294967295"/>
          </p:nvPr>
        </p:nvSpPr>
        <p:spPr>
          <a:xfrm>
            <a:off x="508325" y="1850300"/>
            <a:ext cx="2478600" cy="27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Predict students’ academic performance level (Low / Medium / High) using study habits, lifestyle, and background characteristics</a:t>
            </a:r>
            <a:endParaRPr sz="1600"/>
          </a:p>
        </p:txBody>
      </p:sp>
      <p:grpSp>
        <p:nvGrpSpPr>
          <p:cNvPr id="97" name="Google Shape;97;p14"/>
          <p:cNvGrpSpPr/>
          <p:nvPr/>
        </p:nvGrpSpPr>
        <p:grpSpPr>
          <a:xfrm>
            <a:off x="3320450" y="1304875"/>
            <a:ext cx="2632500" cy="3416400"/>
            <a:chOff x="3320450" y="1304875"/>
            <a:chExt cx="2632500" cy="3416400"/>
          </a:xfrm>
        </p:grpSpPr>
        <p:sp>
          <p:nvSpPr>
            <p:cNvPr id="98" name="Google Shape;98;p14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" name="Google Shape;100;p14"/>
          <p:cNvSpPr txBox="1">
            <a:spLocks noGrp="1"/>
          </p:cNvSpPr>
          <p:nvPr>
            <p:ph type="body" idx="4294967295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Why it matters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1" name="Google Shape;101;p14"/>
          <p:cNvSpPr txBox="1">
            <a:spLocks noGrp="1"/>
          </p:cNvSpPr>
          <p:nvPr>
            <p:ph type="body" idx="4294967295"/>
          </p:nvPr>
        </p:nvSpPr>
        <p:spPr>
          <a:xfrm>
            <a:off x="3396775" y="1850300"/>
            <a:ext cx="2478600" cy="27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Understanding which behaviors are associated with better or worse performance can help educational support</a:t>
            </a:r>
            <a:endParaRPr sz="1600"/>
          </a:p>
        </p:txBody>
      </p:sp>
      <p:grpSp>
        <p:nvGrpSpPr>
          <p:cNvPr id="102" name="Google Shape;102;p14"/>
          <p:cNvGrpSpPr/>
          <p:nvPr/>
        </p:nvGrpSpPr>
        <p:grpSpPr>
          <a:xfrm>
            <a:off x="6212550" y="1304875"/>
            <a:ext cx="2632500" cy="3416400"/>
            <a:chOff x="6212550" y="1304875"/>
            <a:chExt cx="2632500" cy="3416400"/>
          </a:xfrm>
        </p:grpSpPr>
        <p:sp>
          <p:nvSpPr>
            <p:cNvPr id="103" name="Google Shape;103;p14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" name="Google Shape;105;p14"/>
          <p:cNvSpPr txBox="1">
            <a:spLocks noGrp="1"/>
          </p:cNvSpPr>
          <p:nvPr>
            <p:ph type="body" idx="4294967295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Interpretability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6" name="Google Shape;106;p14"/>
          <p:cNvSpPr txBox="1">
            <a:spLocks noGrp="1"/>
          </p:cNvSpPr>
          <p:nvPr>
            <p:ph type="body" idx="4294967295"/>
          </p:nvPr>
        </p:nvSpPr>
        <p:spPr>
          <a:xfrm>
            <a:off x="6286400" y="1850300"/>
            <a:ext cx="2478600" cy="27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Rather than maximizing prediction accuracy alone, the goal is to use interpretable models to explain how different factors relate to performance outcomes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</a:t>
            </a:r>
            <a:endParaRPr/>
          </a:p>
        </p:txBody>
      </p:sp>
      <p:pic>
        <p:nvPicPr>
          <p:cNvPr id="112" name="Google Shape;11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02725"/>
            <a:ext cx="4591175" cy="338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1925" y="1017800"/>
            <a:ext cx="3700374" cy="241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52600" y="3982425"/>
            <a:ext cx="1469550" cy="70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2513" y="1094850"/>
            <a:ext cx="5818975" cy="37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368850" y="202900"/>
            <a:ext cx="23091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Categorical features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750" y="917213"/>
            <a:ext cx="4100225" cy="330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2450" y="950050"/>
            <a:ext cx="4161624" cy="334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 txBox="1"/>
          <p:nvPr/>
        </p:nvSpPr>
        <p:spPr>
          <a:xfrm>
            <a:off x="386775" y="167400"/>
            <a:ext cx="5320500" cy="5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Numerical features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/>
        </p:nvSpPr>
        <p:spPr>
          <a:xfrm>
            <a:off x="386775" y="167400"/>
            <a:ext cx="5320500" cy="5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Correlation Heatmap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8" name="Google Shape;13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8263" y="763800"/>
            <a:ext cx="5527475" cy="469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Pre-processing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/>
        </p:nvSpPr>
        <p:spPr>
          <a:xfrm>
            <a:off x="749025" y="1084475"/>
            <a:ext cx="3258900" cy="22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Split data into training and test sets for fair evaluation(80/20).</a:t>
            </a:r>
            <a:br>
              <a:rPr lang="en" sz="1100"/>
            </a:b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Separate numeric and categorical features for appropriate preprocessing.</a:t>
            </a:r>
            <a:br>
              <a:rPr lang="en" sz="1100"/>
            </a:b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Scale numeric features and one-hot encode categorical features.</a:t>
            </a:r>
            <a:br>
              <a:rPr lang="en" sz="1100"/>
            </a:br>
            <a:endParaRPr sz="11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/>
          </a:p>
        </p:txBody>
      </p:sp>
      <p:pic>
        <p:nvPicPr>
          <p:cNvPr id="149" name="Google Shape;14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9625" y="797625"/>
            <a:ext cx="2864875" cy="283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Unsupervised learning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5950" y="128075"/>
            <a:ext cx="1549800" cy="264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6999" y="128075"/>
            <a:ext cx="2650125" cy="220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52439" y="3061500"/>
            <a:ext cx="2196826" cy="149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07000" y="2445341"/>
            <a:ext cx="2650125" cy="220095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3"/>
          <p:cNvSpPr txBox="1"/>
          <p:nvPr/>
        </p:nvSpPr>
        <p:spPr>
          <a:xfrm>
            <a:off x="335175" y="701550"/>
            <a:ext cx="2650200" cy="3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 b="1"/>
              <a:t>PCA results:</a:t>
            </a:r>
            <a:r>
              <a:rPr lang="en" sz="1000"/>
              <a:t> Variance spread across many components; first two PCs capture ~27% of total variance.</a:t>
            </a:r>
            <a:br>
              <a:rPr lang="en" sz="1000"/>
            </a:br>
            <a:endParaRPr sz="100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 b="1"/>
              <a:t>Visualization:</a:t>
            </a:r>
            <a:r>
              <a:rPr lang="en" sz="1000"/>
              <a:t> Scatterplot of PC1 vs PC2 shows heavy overlap between performance levels; no clear linear separation.</a:t>
            </a:r>
            <a:br>
              <a:rPr lang="en" sz="1000"/>
            </a:br>
            <a:endParaRPr sz="100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 b="1"/>
              <a:t>Clustering:</a:t>
            </a:r>
            <a:r>
              <a:rPr lang="en" sz="1000"/>
              <a:t> K-means (k = 3) produces weakly separated clusters; silhouette scores are low (~0.09–0.096).</a:t>
            </a:r>
            <a:br>
              <a:rPr lang="en" sz="1000"/>
            </a:br>
            <a:endParaRPr sz="100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 b="1"/>
              <a:t>Conclusion:</a:t>
            </a:r>
            <a:r>
              <a:rPr lang="en" sz="1000"/>
              <a:t> Students’ habits vary gradually; unsupervised methods reveal structure but are not sufficient to separate performance classes.</a:t>
            </a:r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24"/>
          <p:cNvGrpSpPr/>
          <p:nvPr/>
        </p:nvGrpSpPr>
        <p:grpSpPr>
          <a:xfrm>
            <a:off x="4939500" y="1219611"/>
            <a:ext cx="3837000" cy="2704200"/>
            <a:chOff x="4939500" y="1219611"/>
            <a:chExt cx="3837000" cy="2704200"/>
          </a:xfrm>
        </p:grpSpPr>
        <p:cxnSp>
          <p:nvCxnSpPr>
            <p:cNvPr id="169" name="Google Shape;169;p24"/>
            <p:cNvCxnSpPr/>
            <p:nvPr/>
          </p:nvCxnSpPr>
          <p:spPr>
            <a:xfrm>
              <a:off x="4939500" y="1219611"/>
              <a:ext cx="0" cy="2704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70" name="Google Shape;170;p24"/>
            <p:cNvCxnSpPr/>
            <p:nvPr/>
          </p:nvCxnSpPr>
          <p:spPr>
            <a:xfrm>
              <a:off x="5365833" y="1219611"/>
              <a:ext cx="0" cy="2704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71" name="Google Shape;171;p24"/>
            <p:cNvCxnSpPr/>
            <p:nvPr/>
          </p:nvCxnSpPr>
          <p:spPr>
            <a:xfrm>
              <a:off x="5792167" y="1219611"/>
              <a:ext cx="0" cy="2704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72" name="Google Shape;172;p24"/>
            <p:cNvCxnSpPr/>
            <p:nvPr/>
          </p:nvCxnSpPr>
          <p:spPr>
            <a:xfrm>
              <a:off x="6218500" y="1219611"/>
              <a:ext cx="0" cy="2704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73" name="Google Shape;173;p24"/>
            <p:cNvCxnSpPr/>
            <p:nvPr/>
          </p:nvCxnSpPr>
          <p:spPr>
            <a:xfrm>
              <a:off x="6644834" y="1219611"/>
              <a:ext cx="0" cy="2704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74" name="Google Shape;174;p24"/>
            <p:cNvCxnSpPr/>
            <p:nvPr/>
          </p:nvCxnSpPr>
          <p:spPr>
            <a:xfrm>
              <a:off x="7071166" y="1219611"/>
              <a:ext cx="0" cy="2704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75" name="Google Shape;175;p24"/>
            <p:cNvCxnSpPr/>
            <p:nvPr/>
          </p:nvCxnSpPr>
          <p:spPr>
            <a:xfrm>
              <a:off x="7497500" y="1219611"/>
              <a:ext cx="0" cy="2704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76" name="Google Shape;176;p24"/>
            <p:cNvCxnSpPr/>
            <p:nvPr/>
          </p:nvCxnSpPr>
          <p:spPr>
            <a:xfrm>
              <a:off x="7923834" y="1219611"/>
              <a:ext cx="0" cy="2704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77" name="Google Shape;177;p24"/>
            <p:cNvCxnSpPr/>
            <p:nvPr/>
          </p:nvCxnSpPr>
          <p:spPr>
            <a:xfrm>
              <a:off x="8350166" y="1219611"/>
              <a:ext cx="0" cy="2704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78" name="Google Shape;178;p24"/>
            <p:cNvCxnSpPr/>
            <p:nvPr/>
          </p:nvCxnSpPr>
          <p:spPr>
            <a:xfrm>
              <a:off x="8776500" y="1219611"/>
              <a:ext cx="0" cy="2704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79" name="Google Shape;179;p24"/>
          <p:cNvSpPr/>
          <p:nvPr/>
        </p:nvSpPr>
        <p:spPr>
          <a:xfrm>
            <a:off x="7014920" y="2133119"/>
            <a:ext cx="286500" cy="286500"/>
          </a:xfrm>
          <a:prstGeom prst="ellipse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4"/>
          <p:cNvSpPr txBox="1">
            <a:spLocks noGrp="1"/>
          </p:cNvSpPr>
          <p:nvPr>
            <p:ph type="title"/>
          </p:nvPr>
        </p:nvSpPr>
        <p:spPr>
          <a:xfrm>
            <a:off x="245025" y="1494125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Supervised learning</a:t>
            </a:r>
            <a:endParaRPr/>
          </a:p>
        </p:txBody>
      </p:sp>
      <p:grpSp>
        <p:nvGrpSpPr>
          <p:cNvPr id="181" name="Google Shape;181;p24"/>
          <p:cNvGrpSpPr/>
          <p:nvPr/>
        </p:nvGrpSpPr>
        <p:grpSpPr>
          <a:xfrm>
            <a:off x="4939534" y="2017046"/>
            <a:ext cx="3825543" cy="1573620"/>
            <a:chOff x="1000000" y="2393988"/>
            <a:chExt cx="4144235" cy="1704713"/>
          </a:xfrm>
        </p:grpSpPr>
        <p:sp>
          <p:nvSpPr>
            <p:cNvPr id="182" name="Google Shape;182;p24"/>
            <p:cNvSpPr/>
            <p:nvPr/>
          </p:nvSpPr>
          <p:spPr>
            <a:xfrm>
              <a:off x="1000000" y="2440003"/>
              <a:ext cx="4144235" cy="1631269"/>
            </a:xfrm>
            <a:custGeom>
              <a:avLst/>
              <a:gdLst/>
              <a:ahLst/>
              <a:cxnLst/>
              <a:rect l="l" t="t" r="r" b="b"/>
              <a:pathLst>
                <a:path w="165422" h="90088" extrusionOk="0">
                  <a:moveTo>
                    <a:pt x="0" y="65550"/>
                  </a:moveTo>
                  <a:cubicBezTo>
                    <a:pt x="3559" y="56002"/>
                    <a:pt x="14632" y="11595"/>
                    <a:pt x="21355" y="8262"/>
                  </a:cubicBezTo>
                  <a:cubicBezTo>
                    <a:pt x="28078" y="4929"/>
                    <a:pt x="34067" y="46906"/>
                    <a:pt x="40338" y="45550"/>
                  </a:cubicBezTo>
                  <a:cubicBezTo>
                    <a:pt x="46609" y="44194"/>
                    <a:pt x="52711" y="2161"/>
                    <a:pt x="58982" y="127"/>
                  </a:cubicBezTo>
                  <a:cubicBezTo>
                    <a:pt x="65253" y="-1907"/>
                    <a:pt x="71807" y="30974"/>
                    <a:pt x="77965" y="33347"/>
                  </a:cubicBezTo>
                  <a:cubicBezTo>
                    <a:pt x="84123" y="35720"/>
                    <a:pt x="90055" y="6285"/>
                    <a:pt x="95931" y="14364"/>
                  </a:cubicBezTo>
                  <a:cubicBezTo>
                    <a:pt x="101807" y="22443"/>
                    <a:pt x="107626" y="77414"/>
                    <a:pt x="113219" y="81821"/>
                  </a:cubicBezTo>
                  <a:cubicBezTo>
                    <a:pt x="118812" y="86228"/>
                    <a:pt x="123671" y="39448"/>
                    <a:pt x="129490" y="40804"/>
                  </a:cubicBezTo>
                  <a:cubicBezTo>
                    <a:pt x="135309" y="42160"/>
                    <a:pt x="142145" y="92047"/>
                    <a:pt x="148134" y="89957"/>
                  </a:cubicBezTo>
                  <a:cubicBezTo>
                    <a:pt x="154123" y="87867"/>
                    <a:pt x="162541" y="38545"/>
                    <a:pt x="165422" y="28262"/>
                  </a:cubicBezTo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83" name="Google Shape;183;p24"/>
            <p:cNvSpPr/>
            <p:nvPr/>
          </p:nvSpPr>
          <p:spPr>
            <a:xfrm>
              <a:off x="4658400" y="4014100"/>
              <a:ext cx="84600" cy="846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4"/>
            <p:cNvSpPr/>
            <p:nvPr/>
          </p:nvSpPr>
          <p:spPr>
            <a:xfrm>
              <a:off x="4195525" y="3147350"/>
              <a:ext cx="84600" cy="846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4"/>
            <p:cNvSpPr/>
            <p:nvPr/>
          </p:nvSpPr>
          <p:spPr>
            <a:xfrm>
              <a:off x="3800700" y="3868900"/>
              <a:ext cx="84600" cy="846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4"/>
            <p:cNvSpPr/>
            <p:nvPr/>
          </p:nvSpPr>
          <p:spPr>
            <a:xfrm>
              <a:off x="3358650" y="2637813"/>
              <a:ext cx="84600" cy="846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4"/>
            <p:cNvSpPr/>
            <p:nvPr/>
          </p:nvSpPr>
          <p:spPr>
            <a:xfrm>
              <a:off x="2909400" y="2993013"/>
              <a:ext cx="84600" cy="846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4"/>
            <p:cNvSpPr/>
            <p:nvPr/>
          </p:nvSpPr>
          <p:spPr>
            <a:xfrm>
              <a:off x="2437450" y="2393988"/>
              <a:ext cx="84600" cy="846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4"/>
            <p:cNvSpPr/>
            <p:nvPr/>
          </p:nvSpPr>
          <p:spPr>
            <a:xfrm>
              <a:off x="1974575" y="3213325"/>
              <a:ext cx="84600" cy="846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4"/>
            <p:cNvSpPr/>
            <p:nvPr/>
          </p:nvSpPr>
          <p:spPr>
            <a:xfrm>
              <a:off x="1500000" y="2553225"/>
              <a:ext cx="84600" cy="846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" name="Google Shape;191;p24"/>
          <p:cNvGrpSpPr/>
          <p:nvPr/>
        </p:nvGrpSpPr>
        <p:grpSpPr>
          <a:xfrm>
            <a:off x="4939557" y="1778136"/>
            <a:ext cx="3836911" cy="1503799"/>
            <a:chOff x="1000025" y="2059300"/>
            <a:chExt cx="4156550" cy="1629075"/>
          </a:xfrm>
        </p:grpSpPr>
        <p:sp>
          <p:nvSpPr>
            <p:cNvPr id="192" name="Google Shape;192;p24"/>
            <p:cNvSpPr/>
            <p:nvPr/>
          </p:nvSpPr>
          <p:spPr>
            <a:xfrm>
              <a:off x="1000025" y="2083952"/>
              <a:ext cx="4156550" cy="1576975"/>
            </a:xfrm>
            <a:custGeom>
              <a:avLst/>
              <a:gdLst/>
              <a:ahLst/>
              <a:cxnLst/>
              <a:rect l="l" t="t" r="r" b="b"/>
              <a:pathLst>
                <a:path w="166262" h="63079" extrusionOk="0">
                  <a:moveTo>
                    <a:pt x="0" y="34952"/>
                  </a:moveTo>
                  <a:cubicBezTo>
                    <a:pt x="3623" y="29133"/>
                    <a:pt x="14946" y="1167"/>
                    <a:pt x="21740" y="37"/>
                  </a:cubicBezTo>
                  <a:cubicBezTo>
                    <a:pt x="28534" y="-1093"/>
                    <a:pt x="34478" y="24048"/>
                    <a:pt x="40762" y="28172"/>
                  </a:cubicBezTo>
                  <a:cubicBezTo>
                    <a:pt x="47046" y="32296"/>
                    <a:pt x="53256" y="18986"/>
                    <a:pt x="59446" y="24782"/>
                  </a:cubicBezTo>
                  <a:cubicBezTo>
                    <a:pt x="65636" y="30578"/>
                    <a:pt x="71730" y="60803"/>
                    <a:pt x="77901" y="62950"/>
                  </a:cubicBezTo>
                  <a:cubicBezTo>
                    <a:pt x="84072" y="65097"/>
                    <a:pt x="90490" y="39675"/>
                    <a:pt x="96472" y="37664"/>
                  </a:cubicBezTo>
                  <a:cubicBezTo>
                    <a:pt x="102455" y="35653"/>
                    <a:pt x="108078" y="54726"/>
                    <a:pt x="113796" y="50884"/>
                  </a:cubicBezTo>
                  <a:cubicBezTo>
                    <a:pt x="119514" y="47042"/>
                    <a:pt x="125063" y="18059"/>
                    <a:pt x="130781" y="14613"/>
                  </a:cubicBezTo>
                  <a:cubicBezTo>
                    <a:pt x="136499" y="11167"/>
                    <a:pt x="142192" y="30515"/>
                    <a:pt x="148105" y="30206"/>
                  </a:cubicBezTo>
                  <a:cubicBezTo>
                    <a:pt x="154019" y="29897"/>
                    <a:pt x="163236" y="15665"/>
                    <a:pt x="166262" y="12757"/>
                  </a:cubicBezTo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93" name="Google Shape;193;p24"/>
            <p:cNvSpPr/>
            <p:nvPr/>
          </p:nvSpPr>
          <p:spPr>
            <a:xfrm>
              <a:off x="1500000" y="2059300"/>
              <a:ext cx="84600" cy="84600"/>
            </a:xfrm>
            <a:prstGeom prst="ellipse">
              <a:avLst/>
            </a:prstGeom>
            <a:solidFill>
              <a:schemeClr val="accent4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4"/>
            <p:cNvSpPr/>
            <p:nvPr/>
          </p:nvSpPr>
          <p:spPr>
            <a:xfrm>
              <a:off x="1974575" y="2737275"/>
              <a:ext cx="84600" cy="84600"/>
            </a:xfrm>
            <a:prstGeom prst="ellipse">
              <a:avLst/>
            </a:prstGeom>
            <a:solidFill>
              <a:schemeClr val="accent4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4"/>
            <p:cNvSpPr/>
            <p:nvPr/>
          </p:nvSpPr>
          <p:spPr>
            <a:xfrm>
              <a:off x="2437450" y="2652675"/>
              <a:ext cx="84600" cy="84600"/>
            </a:xfrm>
            <a:prstGeom prst="ellipse">
              <a:avLst/>
            </a:prstGeom>
            <a:solidFill>
              <a:schemeClr val="accent4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4"/>
            <p:cNvSpPr/>
            <p:nvPr/>
          </p:nvSpPr>
          <p:spPr>
            <a:xfrm>
              <a:off x="2909400" y="3603775"/>
              <a:ext cx="84600" cy="84600"/>
            </a:xfrm>
            <a:prstGeom prst="ellipse">
              <a:avLst/>
            </a:prstGeom>
            <a:solidFill>
              <a:schemeClr val="accent4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4"/>
            <p:cNvSpPr/>
            <p:nvPr/>
          </p:nvSpPr>
          <p:spPr>
            <a:xfrm>
              <a:off x="3358650" y="2993025"/>
              <a:ext cx="84600" cy="84600"/>
            </a:xfrm>
            <a:prstGeom prst="ellipse">
              <a:avLst/>
            </a:prstGeom>
            <a:solidFill>
              <a:schemeClr val="accent4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4"/>
            <p:cNvSpPr/>
            <p:nvPr/>
          </p:nvSpPr>
          <p:spPr>
            <a:xfrm>
              <a:off x="3780700" y="3315225"/>
              <a:ext cx="84600" cy="84600"/>
            </a:xfrm>
            <a:prstGeom prst="ellipse">
              <a:avLst/>
            </a:prstGeom>
            <a:solidFill>
              <a:schemeClr val="accent4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4"/>
            <p:cNvSpPr/>
            <p:nvPr/>
          </p:nvSpPr>
          <p:spPr>
            <a:xfrm>
              <a:off x="4216350" y="2412175"/>
              <a:ext cx="84600" cy="84600"/>
            </a:xfrm>
            <a:prstGeom prst="ellipse">
              <a:avLst/>
            </a:prstGeom>
            <a:solidFill>
              <a:schemeClr val="accent4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4658400" y="2802450"/>
              <a:ext cx="84600" cy="84600"/>
            </a:xfrm>
            <a:prstGeom prst="ellipse">
              <a:avLst/>
            </a:prstGeom>
            <a:solidFill>
              <a:schemeClr val="accent4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/>
        </p:nvSpPr>
        <p:spPr>
          <a:xfrm>
            <a:off x="386775" y="167400"/>
            <a:ext cx="5320500" cy="5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Logistic regression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6" name="Google Shape;20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5250" y="1140388"/>
            <a:ext cx="3429201" cy="28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5"/>
          <p:cNvSpPr txBox="1"/>
          <p:nvPr/>
        </p:nvSpPr>
        <p:spPr>
          <a:xfrm>
            <a:off x="194600" y="945150"/>
            <a:ext cx="2171400" cy="30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1F1F1F"/>
                </a:solidFill>
                <a:highlight>
                  <a:srgbClr val="FFFFFF"/>
                </a:highlight>
              </a:rPr>
              <a:t>Key numbers:</a:t>
            </a:r>
            <a:endParaRPr sz="1000" b="1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000"/>
              <a:buChar char="●"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Best CV macro F1: 0.837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Char char="●"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Training macro F1: 0.87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Char char="●"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Test macro F1: 0.85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Char char="●"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Test accuracy: 0.84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1F1F1F"/>
                </a:solidFill>
                <a:highlight>
                  <a:srgbClr val="FFFFFF"/>
                </a:highlight>
              </a:rPr>
              <a:t>Interpretation:</a:t>
            </a:r>
            <a:endParaRPr sz="1000" b="1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000"/>
              <a:buChar char="●"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Strong and stable performance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Char char="●"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Generalizes well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Char char="●"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Suggest that much of the predictive signal is approximately linear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  <p:pic>
        <p:nvPicPr>
          <p:cNvPr id="208" name="Google Shape;20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9775" y="810850"/>
            <a:ext cx="2743750" cy="1400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81287" y="2737950"/>
            <a:ext cx="2600138" cy="14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/>
          <p:nvPr/>
        </p:nvSpPr>
        <p:spPr>
          <a:xfrm>
            <a:off x="386775" y="167400"/>
            <a:ext cx="5320500" cy="5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SVM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5" name="Google Shape;21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6476" y="945150"/>
            <a:ext cx="2570549" cy="13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6475" y="2640600"/>
            <a:ext cx="2668776" cy="1132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9106" y="1068900"/>
            <a:ext cx="3223820" cy="269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6"/>
          <p:cNvSpPr txBox="1"/>
          <p:nvPr/>
        </p:nvSpPr>
        <p:spPr>
          <a:xfrm>
            <a:off x="194825" y="945150"/>
            <a:ext cx="2225400" cy="28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1F1F1F"/>
                </a:solidFill>
                <a:highlight>
                  <a:srgbClr val="FFFFFF"/>
                </a:highlight>
              </a:rPr>
              <a:t>Key numbers:</a:t>
            </a:r>
            <a:endParaRPr sz="1000" b="1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000"/>
              <a:buChar char="●"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Best CV macro F1: 0.830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Char char="●"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Training macro F1: 0.90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Char char="●"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Test macro F1: 0.85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Char char="●"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Test accuracy: 0.85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1F1F1F"/>
                </a:solidFill>
                <a:highlight>
                  <a:srgbClr val="FFFFFF"/>
                </a:highlight>
              </a:rPr>
              <a:t>Interpretation:</a:t>
            </a:r>
            <a:endParaRPr sz="1000" b="1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000"/>
              <a:buChar char="●"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Comparable to logistic regression even with non-linear boundaries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Char char="●"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Non-linear effects exist but are not dominant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 txBox="1"/>
          <p:nvPr/>
        </p:nvSpPr>
        <p:spPr>
          <a:xfrm>
            <a:off x="386775" y="167400"/>
            <a:ext cx="5320500" cy="5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Random Forest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27"/>
          <p:cNvSpPr txBox="1"/>
          <p:nvPr/>
        </p:nvSpPr>
        <p:spPr>
          <a:xfrm>
            <a:off x="194825" y="945150"/>
            <a:ext cx="2225400" cy="3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1F1F1F"/>
                </a:solidFill>
                <a:highlight>
                  <a:srgbClr val="FFFFFF"/>
                </a:highlight>
              </a:rPr>
              <a:t>Key numbers:</a:t>
            </a:r>
            <a:endParaRPr sz="1000" b="1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000"/>
              <a:buChar char="●"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Training accuracy: 1.00 🚨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Char char="●"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CV macro F1: 0.793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Char char="●"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Test macro F1: 0.80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1F1F1F"/>
                </a:solidFill>
                <a:highlight>
                  <a:srgbClr val="FFFFFF"/>
                </a:highlight>
              </a:rPr>
              <a:t>Interpretation:</a:t>
            </a:r>
            <a:endParaRPr sz="1000" b="1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000"/>
              <a:buChar char="●"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Perfect training performance but drop in cross-validation and test performance, indicating overfitting. 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Char char="●"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This suggests that the model captures noise rather generalizable patterns.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sz="800" b="1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  <p:pic>
        <p:nvPicPr>
          <p:cNvPr id="225" name="Google Shape;22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6263" y="1048000"/>
            <a:ext cx="2796801" cy="121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6275" y="2575225"/>
            <a:ext cx="2796800" cy="121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7274" y="1048000"/>
            <a:ext cx="3287850" cy="2744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>
            <a:spLocks noGrp="1"/>
          </p:cNvSpPr>
          <p:nvPr>
            <p:ph type="title"/>
          </p:nvPr>
        </p:nvSpPr>
        <p:spPr>
          <a:xfrm>
            <a:off x="316050" y="2152350"/>
            <a:ext cx="87564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Interpretation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/>
          <p:nvPr/>
        </p:nvSpPr>
        <p:spPr>
          <a:xfrm>
            <a:off x="672500" y="148450"/>
            <a:ext cx="5320500" cy="5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Roboto"/>
                <a:ea typeface="Roboto"/>
                <a:cs typeface="Roboto"/>
                <a:sym typeface="Roboto"/>
              </a:rPr>
              <a:t>Positive drivers</a:t>
            </a:r>
            <a:endParaRPr sz="16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29"/>
          <p:cNvSpPr txBox="1"/>
          <p:nvPr/>
        </p:nvSpPr>
        <p:spPr>
          <a:xfrm>
            <a:off x="618375" y="744850"/>
            <a:ext cx="33087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/>
              <a:t>Coefficient interpretability:</a:t>
            </a:r>
            <a:r>
              <a:rPr lang="en" sz="1000"/>
              <a:t> </a:t>
            </a:r>
            <a:endParaRPr sz="100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Positive → increase likelihood</a:t>
            </a:r>
            <a:endParaRPr sz="100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negative → decrease likelihood</a:t>
            </a:r>
            <a:endParaRPr sz="100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Odds ratios provide intuitive effect sizes.</a:t>
            </a:r>
            <a:br>
              <a:rPr lang="en" sz="1000"/>
            </a:br>
            <a:endParaRPr sz="1000"/>
          </a:p>
        </p:txBody>
      </p:sp>
      <p:sp>
        <p:nvSpPr>
          <p:cNvPr id="239" name="Google Shape;239;p29"/>
          <p:cNvSpPr txBox="1"/>
          <p:nvPr/>
        </p:nvSpPr>
        <p:spPr>
          <a:xfrm>
            <a:off x="618375" y="1699150"/>
            <a:ext cx="3000000" cy="3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1"/>
              <a:t>High performance</a:t>
            </a:r>
            <a:endParaRPr sz="1000" b="1"/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High study hours</a:t>
            </a: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Strong mental health</a:t>
            </a: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Adequate sleep and exercise</a:t>
            </a: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High attendance</a:t>
            </a: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1"/>
              <a:t>Medium performance</a:t>
            </a:r>
            <a:endParaRPr sz="1000" b="1"/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Mixed academic and lifestyle patterns</a:t>
            </a: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Part-time work and extracurricular activities</a:t>
            </a: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1"/>
              <a:t>Low performance</a:t>
            </a:r>
            <a:endParaRPr sz="1000" b="1"/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High social media usage</a:t>
            </a: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High Netflix usage</a:t>
            </a: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000"/>
          </a:p>
        </p:txBody>
      </p:sp>
      <p:pic>
        <p:nvPicPr>
          <p:cNvPr id="240" name="Google Shape;24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4261" y="148450"/>
            <a:ext cx="2549879" cy="156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0700" y="3608925"/>
            <a:ext cx="3550000" cy="1350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08025" y="1870500"/>
            <a:ext cx="2866126" cy="1649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0"/>
          <p:cNvSpPr txBox="1"/>
          <p:nvPr/>
        </p:nvSpPr>
        <p:spPr>
          <a:xfrm>
            <a:off x="856275" y="469900"/>
            <a:ext cx="2517600" cy="38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600" b="1"/>
              <a:t>Negative Drivers</a:t>
            </a:r>
            <a:endParaRPr sz="1600" b="1"/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6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1"/>
              <a:t>High performance</a:t>
            </a:r>
            <a:endParaRPr sz="1000" b="1"/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Excessive social media use</a:t>
            </a: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Excessive Netflix use</a:t>
            </a: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1"/>
              <a:t>Low performance</a:t>
            </a:r>
            <a:endParaRPr sz="1000" b="1"/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High study hours</a:t>
            </a: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Good mental health and sleep</a:t>
            </a: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Regular exercise and attendance</a:t>
            </a:r>
            <a:br>
              <a:rPr lang="en" sz="1000"/>
            </a:b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1"/>
              <a:t>Medium performance</a:t>
            </a:r>
            <a:endParaRPr sz="1000" b="1"/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Strong academic engagement</a:t>
            </a: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Very healthy routines</a:t>
            </a:r>
            <a:endParaRPr sz="1000"/>
          </a:p>
        </p:txBody>
      </p:sp>
      <p:pic>
        <p:nvPicPr>
          <p:cNvPr id="248" name="Google Shape;24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6275" y="110075"/>
            <a:ext cx="2724149" cy="165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2825" y="3547550"/>
            <a:ext cx="2517601" cy="1464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03700" y="1785400"/>
            <a:ext cx="3496724" cy="1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"/>
          <p:cNvSpPr txBox="1"/>
          <p:nvPr/>
        </p:nvSpPr>
        <p:spPr>
          <a:xfrm>
            <a:off x="205650" y="350700"/>
            <a:ext cx="4366500" cy="31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600" b="1"/>
              <a:t>Role of Categorical Variables</a:t>
            </a:r>
            <a:endParaRPr sz="1600" b="1"/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Demographic and background variables have </a:t>
            </a:r>
            <a:r>
              <a:rPr lang="en" sz="1000" b="1"/>
              <a:t>small effects</a:t>
            </a:r>
            <a:endParaRPr sz="1000" b="1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Odds ratios are mostly </a:t>
            </a:r>
            <a:r>
              <a:rPr lang="en" sz="1000" b="1"/>
              <a:t>close to 1</a:t>
            </a:r>
            <a:endParaRPr sz="1000" b="1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Behavioral and academic habits dominate performance differences</a:t>
            </a: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600" b="1"/>
              <a:t>Overall Insights</a:t>
            </a:r>
            <a:endParaRPr sz="1600" b="1"/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Performance is driven mainly by </a:t>
            </a:r>
            <a:r>
              <a:rPr lang="en" sz="1000" b="1"/>
              <a:t>controllable behaviors</a:t>
            </a:r>
            <a:endParaRPr sz="1000" b="1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High performance: sustained study, attendance, sleep, exercise, mental health</a:t>
            </a: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Low performance: excessive leisure screen time</a:t>
            </a: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Medium performance reflects a </a:t>
            </a:r>
            <a:r>
              <a:rPr lang="en" sz="1000" b="1"/>
              <a:t>balanced, intermediate profile</a:t>
            </a:r>
            <a:endParaRPr sz="1000" b="1"/>
          </a:p>
        </p:txBody>
      </p:sp>
      <p:pic>
        <p:nvPicPr>
          <p:cNvPr id="256" name="Google Shape;25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1900" y="152400"/>
            <a:ext cx="3219550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2"/>
          <p:cNvSpPr txBox="1">
            <a:spLocks noGrp="1"/>
          </p:cNvSpPr>
          <p:nvPr>
            <p:ph type="ctrTitle"/>
          </p:nvPr>
        </p:nvSpPr>
        <p:spPr>
          <a:xfrm>
            <a:off x="460950" y="19829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Final Takeaways</a:t>
            </a:r>
            <a:endParaRPr sz="3300"/>
          </a:p>
        </p:txBody>
      </p:sp>
      <p:sp>
        <p:nvSpPr>
          <p:cNvPr id="262" name="Google Shape;262;p32"/>
          <p:cNvSpPr txBox="1">
            <a:spLocks noGrp="1"/>
          </p:cNvSpPr>
          <p:nvPr>
            <p:ph type="subTitle" idx="1"/>
          </p:nvPr>
        </p:nvSpPr>
        <p:spPr>
          <a:xfrm>
            <a:off x="460950" y="1139093"/>
            <a:ext cx="8335800" cy="37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Study habits, attendance, and well-being are strong predictors of performance</a:t>
            </a:r>
            <a:endParaRPr sz="100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Logistic regression provides interpretable insights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✔ What the model can say</a:t>
            </a:r>
            <a:endParaRPr sz="100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Students who study more tend to have higher performance</a:t>
            </a:r>
            <a:endParaRPr sz="100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Better sleep, exercise, attendance, and mental health are associated with higher performance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✘ What the model cannot say</a:t>
            </a:r>
            <a:endParaRPr sz="100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Increasing study hours will cause a student’s performance to improve</a:t>
            </a:r>
            <a:endParaRPr sz="100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Cannot prove that changing habits will directly change outcomes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This is an </a:t>
            </a:r>
            <a:r>
              <a:rPr lang="en" sz="1000" b="1"/>
              <a:t>observational model</a:t>
            </a:r>
            <a:r>
              <a:rPr lang="en" sz="1000"/>
              <a:t>, </a:t>
            </a:r>
            <a:r>
              <a:rPr lang="en" sz="1000" b="1"/>
              <a:t>not a causal</a:t>
            </a:r>
            <a:r>
              <a:rPr lang="en" sz="1000"/>
              <a:t> one</a:t>
            </a:r>
            <a:endParaRPr sz="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587</Words>
  <Application>Microsoft Office PowerPoint</Application>
  <PresentationFormat>On-screen Show (16:9)</PresentationFormat>
  <Paragraphs>115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Roboto</vt:lpstr>
      <vt:lpstr>Arial</vt:lpstr>
      <vt:lpstr>Geometric</vt:lpstr>
      <vt:lpstr> Statistical Learning and Data Analysis Assignment 04 (Classification)</vt:lpstr>
      <vt:lpstr>Motivation</vt:lpstr>
      <vt:lpstr>Dataset Overview</vt:lpstr>
      <vt:lpstr>Exploratory Data Analysis</vt:lpstr>
      <vt:lpstr>PowerPoint Presentation</vt:lpstr>
      <vt:lpstr>PowerPoint Presentation</vt:lpstr>
      <vt:lpstr>PowerPoint Presentation</vt:lpstr>
      <vt:lpstr>Pre-processing </vt:lpstr>
      <vt:lpstr>PowerPoint Presentation</vt:lpstr>
      <vt:lpstr>Unsupervised learning</vt:lpstr>
      <vt:lpstr>PowerPoint Presentation</vt:lpstr>
      <vt:lpstr>Supervised learning</vt:lpstr>
      <vt:lpstr>PowerPoint Presentation</vt:lpstr>
      <vt:lpstr>PowerPoint Presentation</vt:lpstr>
      <vt:lpstr>PowerPoint Presentation</vt:lpstr>
      <vt:lpstr>Interpretation of Logistic regression</vt:lpstr>
      <vt:lpstr>PowerPoint Presentation</vt:lpstr>
      <vt:lpstr>PowerPoint Presentation</vt:lpstr>
      <vt:lpstr>PowerPoint Presentation</vt:lpstr>
      <vt:lpstr>Final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Sajia, Rabeya</cp:lastModifiedBy>
  <cp:revision>1</cp:revision>
  <dcterms:modified xsi:type="dcterms:W3CDTF">2026-01-19T21:57:29Z</dcterms:modified>
</cp:coreProperties>
</file>